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94668"/>
  </p:normalViewPr>
  <p:slideViewPr>
    <p:cSldViewPr snapToGrid="0">
      <p:cViewPr varScale="1">
        <p:scale>
          <a:sx n="158" d="100"/>
          <a:sy n="158" d="100"/>
        </p:scale>
        <p:origin x="224" y="1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dfe9a02039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dfe9a02039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dfe9a02039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dfe9a02039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dfe9a0203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dfe9a0203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dfe9a02039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dfe9a02039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dfe9a02039_0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dfe9a02039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dfe9a02039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dfe9a02039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dfe9a02039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dfe9a02039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dfe9a02039_0_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dfe9a02039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dfe9a02039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dfe9a02039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dfe9a02039_0_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dfe9a02039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dfe9a02039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dfe9a02039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dfe9a02039_0_1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dfe9a02039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dfe9a02039_0_1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dfe9a02039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dfe9a02039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dfe9a02039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dfe9a02039_0_1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3dfe9a02039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dfe9a02039_0_1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dfe9a02039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dfe9a02039_0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3dfe9a02039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dfe9a02039_0_1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dfe9a02039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dfe9a02039_0_1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3dfe9a02039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dfe9a02039_0_1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dfe9a02039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dfe9a02039_0_1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dfe9a02039_0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dfe9a02039_0_1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dfe9a02039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dfe9a02039_0_1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dfe9a02039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dfe9a02039_0_1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3dfe9a02039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dfe9a02039_0_1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3dfe9a02039_0_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dfe9a02039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3dfe9a02039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dfe9a02039_0_1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dfe9a02039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app.py" TargetMode="External"/><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descr="beautify this slide"/>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Introduction to the database:</a:t>
            </a:r>
            <a:endParaRPr/>
          </a:p>
        </p:txBody>
      </p:sp>
      <p:sp>
        <p:nvSpPr>
          <p:cNvPr id="60" name="Google Shape;60;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en-GB"/>
              <a:t>The project is for implementing PostgreSQL based Hospital management database for maintaining patients information, doctors information, appointments history, medical test reports, medicines, prescription history, medicine prescriptions. </a:t>
            </a:r>
            <a:endParaRPr/>
          </a:p>
          <a:p>
            <a:pPr marL="457200" lvl="0" indent="-342900" algn="l" rtl="0">
              <a:spcBef>
                <a:spcPts val="0"/>
              </a:spcBef>
              <a:spcAft>
                <a:spcPts val="0"/>
              </a:spcAft>
              <a:buSzPts val="1800"/>
              <a:buChar char="●"/>
            </a:pPr>
            <a:r>
              <a:rPr lang="en-GB"/>
              <a:t>This project uses PostgreSQL queries to see information of patients like age weight, height, medical history and prescribed medicines taking information from 7 table list in the database which will talk about further we go into the presentation.</a:t>
            </a:r>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Setting up database:</a:t>
            </a:r>
            <a:endParaRPr/>
          </a:p>
        </p:txBody>
      </p:sp>
      <p:sp>
        <p:nvSpPr>
          <p:cNvPr id="66" name="Google Shape;66;p15"/>
          <p:cNvSpPr txBox="1">
            <a:spLocks noGrp="1"/>
          </p:cNvSpPr>
          <p:nvPr>
            <p:ph type="body" idx="1"/>
          </p:nvPr>
        </p:nvSpPr>
        <p:spPr>
          <a:xfrm>
            <a:off x="311700" y="1152475"/>
            <a:ext cx="8520600" cy="3657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This project is containerized using docker for easy setup with the step by step process mentioned below (make sure there is docker and PostgreSQL tools are installed and running before this steps):-  This steps also uploaded in README</a:t>
            </a:r>
            <a:endParaRPr/>
          </a:p>
          <a:p>
            <a:pPr marL="0" lvl="0" indent="0" algn="ctr" rtl="0">
              <a:spcBef>
                <a:spcPts val="1200"/>
              </a:spcBef>
              <a:spcAft>
                <a:spcPts val="0"/>
              </a:spcAft>
              <a:buNone/>
            </a:pPr>
            <a:r>
              <a:rPr lang="en-GB"/>
              <a:t>Visit and Fork https://github.com/karthik-bit1/CS377-A_hospital_medicaldb.git</a:t>
            </a:r>
            <a:endParaRPr/>
          </a:p>
          <a:p>
            <a:pPr marL="457200" lvl="0" indent="-342900" algn="l" rtl="0">
              <a:spcBef>
                <a:spcPts val="1200"/>
              </a:spcBef>
              <a:spcAft>
                <a:spcPts val="0"/>
              </a:spcAft>
              <a:buSzPts val="1800"/>
              <a:buAutoNum type="arabicPeriod"/>
            </a:pPr>
            <a:r>
              <a:rPr lang="en-GB"/>
              <a:t>git clone https://github.com/karthik-bit1/CS377-A_hospital_medicaldb.git</a:t>
            </a:r>
            <a:endParaRPr/>
          </a:p>
          <a:p>
            <a:pPr marL="457200" lvl="0" indent="-342900" algn="l" rtl="0">
              <a:spcBef>
                <a:spcPts val="0"/>
              </a:spcBef>
              <a:spcAft>
                <a:spcPts val="0"/>
              </a:spcAft>
              <a:buSzPts val="1800"/>
              <a:buAutoNum type="arabicPeriod"/>
            </a:pPr>
            <a:r>
              <a:rPr lang="en-GB"/>
              <a:t>cd CS377-A_hospital_medicaldb</a:t>
            </a:r>
            <a:endParaRPr/>
          </a:p>
          <a:p>
            <a:pPr marL="457200" lvl="0" indent="-342900" algn="l" rtl="0">
              <a:spcBef>
                <a:spcPts val="0"/>
              </a:spcBef>
              <a:spcAft>
                <a:spcPts val="0"/>
              </a:spcAft>
              <a:buSzPts val="1800"/>
              <a:buAutoNum type="arabicPeriod"/>
            </a:pPr>
            <a:r>
              <a:rPr lang="en-GB"/>
              <a:t>docker compose up -d</a:t>
            </a:r>
            <a:endParaRPr/>
          </a:p>
          <a:p>
            <a:pPr marL="457200" lvl="0" indent="-342900" algn="l" rtl="0">
              <a:spcBef>
                <a:spcPts val="0"/>
              </a:spcBef>
              <a:spcAft>
                <a:spcPts val="0"/>
              </a:spcAft>
              <a:buSzPts val="1800"/>
              <a:buAutoNum type="arabicPeriod"/>
            </a:pPr>
            <a:r>
              <a:rPr lang="en-GB"/>
              <a:t>docker exec -it hospital_postgres psql -U postgres -d hospital_meddb</a:t>
            </a:r>
            <a:endParaRPr/>
          </a:p>
          <a:p>
            <a:pPr marL="0" lvl="0" indent="0" algn="l" rtl="0">
              <a:spcBef>
                <a:spcPts val="0"/>
              </a:spcBef>
              <a:spcAft>
                <a:spcPts val="120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Tables in the Database: </a:t>
            </a:r>
            <a:endParaRPr dirty="0"/>
          </a:p>
        </p:txBody>
      </p:sp>
      <p:sp>
        <p:nvSpPr>
          <p:cNvPr id="72" name="Google Shape;72;p16"/>
          <p:cNvSpPr txBox="1">
            <a:spLocks noGrp="1"/>
          </p:cNvSpPr>
          <p:nvPr>
            <p:ph type="body" idx="1"/>
          </p:nvPr>
        </p:nvSpPr>
        <p:spPr>
          <a:xfrm>
            <a:off x="311700" y="841572"/>
            <a:ext cx="8520600" cy="3727303"/>
          </a:xfrm>
          <a:prstGeom prst="rect">
            <a:avLst/>
          </a:prstGeom>
        </p:spPr>
        <p:txBody>
          <a:bodyPr spcFirstLastPara="1" wrap="square" lIns="91425" tIns="91425" rIns="91425" bIns="91425" anchor="t" anchorCtr="0">
            <a:normAutofit/>
          </a:bodyPr>
          <a:lstStyle/>
          <a:p>
            <a:pPr marL="114300" lvl="0" indent="0" algn="l" rtl="0">
              <a:spcBef>
                <a:spcPts val="1200"/>
              </a:spcBef>
              <a:spcAft>
                <a:spcPts val="0"/>
              </a:spcAft>
              <a:buClr>
                <a:schemeClr val="dk1"/>
              </a:buClr>
              <a:buSzPts val="1800"/>
              <a:buNone/>
            </a:pPr>
            <a:r>
              <a:rPr lang="en-GB" b="1" dirty="0">
                <a:solidFill>
                  <a:schemeClr val="dk1"/>
                </a:solidFill>
              </a:rPr>
              <a:t>patient</a:t>
            </a:r>
            <a:r>
              <a:rPr lang="en-GB" dirty="0">
                <a:solidFill>
                  <a:schemeClr val="dk1"/>
                </a:solidFill>
              </a:rPr>
              <a:t>: stores patient information</a:t>
            </a:r>
            <a:endParaRPr dirty="0">
              <a:solidFill>
                <a:schemeClr val="dk1"/>
              </a:solidFill>
            </a:endParaRPr>
          </a:p>
          <a:p>
            <a:pPr marL="457200" lvl="0" indent="0" algn="l" rtl="0">
              <a:spcBef>
                <a:spcPts val="1200"/>
              </a:spcBef>
              <a:spcAft>
                <a:spcPts val="0"/>
              </a:spcAft>
              <a:buNone/>
            </a:pPr>
            <a:endParaRPr dirty="0">
              <a:solidFill>
                <a:schemeClr val="dk1"/>
              </a:solidFill>
            </a:endParaRPr>
          </a:p>
          <a:p>
            <a:pPr marL="457200" lvl="0" indent="0" algn="l" rtl="0">
              <a:spcBef>
                <a:spcPts val="1200"/>
              </a:spcBef>
              <a:spcAft>
                <a:spcPts val="1200"/>
              </a:spcAft>
              <a:buNone/>
            </a:pPr>
            <a:endParaRPr dirty="0"/>
          </a:p>
        </p:txBody>
      </p:sp>
      <p:pic>
        <p:nvPicPr>
          <p:cNvPr id="73" name="Google Shape;73;p16" title="Screenshot 2026-05-09 at 5.10.55 PM.png"/>
          <p:cNvPicPr preferRelativeResize="0"/>
          <p:nvPr/>
        </p:nvPicPr>
        <p:blipFill>
          <a:blip r:embed="rId3">
            <a:alphaModFix/>
          </a:blip>
          <a:stretch>
            <a:fillRect/>
          </a:stretch>
        </p:blipFill>
        <p:spPr>
          <a:xfrm>
            <a:off x="451275" y="1523725"/>
            <a:ext cx="8122699" cy="3416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0"/>
              </a:spcAft>
              <a:buNone/>
            </a:pPr>
            <a:r>
              <a:rPr lang="en-GB" sz="2650" b="1"/>
              <a:t>doctor</a:t>
            </a:r>
            <a:r>
              <a:rPr lang="en-GB" sz="2650"/>
              <a:t>: stores doctor details</a:t>
            </a:r>
            <a:endParaRPr sz="2650"/>
          </a:p>
          <a:p>
            <a:pPr marL="0" lvl="0" indent="0" algn="l" rtl="0">
              <a:spcBef>
                <a:spcPts val="1200"/>
              </a:spcBef>
              <a:spcAft>
                <a:spcPts val="0"/>
              </a:spcAft>
              <a:buNone/>
            </a:pPr>
            <a:endParaRPr/>
          </a:p>
        </p:txBody>
      </p:sp>
      <p:sp>
        <p:nvSpPr>
          <p:cNvPr id="79" name="Google Shape;79;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80" name="Google Shape;80;p17" title="Screenshot 2026-05-09 at 5.34.39 PM.png"/>
          <p:cNvPicPr preferRelativeResize="0"/>
          <p:nvPr/>
        </p:nvPicPr>
        <p:blipFill>
          <a:blip r:embed="rId3">
            <a:alphaModFix/>
          </a:blip>
          <a:stretch>
            <a:fillRect/>
          </a:stretch>
        </p:blipFill>
        <p:spPr>
          <a:xfrm>
            <a:off x="351800" y="1017725"/>
            <a:ext cx="8440398" cy="40055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0"/>
              </a:spcAft>
              <a:buNone/>
            </a:pPr>
            <a:r>
              <a:rPr lang="en-GB" sz="2650" b="1"/>
              <a:t>appointments</a:t>
            </a:r>
            <a:r>
              <a:rPr lang="en-GB" sz="2650"/>
              <a:t>: tracks patients appointments with their doctor</a:t>
            </a:r>
            <a:endParaRPr sz="2650"/>
          </a:p>
          <a:p>
            <a:pPr marL="0" lvl="0" indent="0" algn="l" rtl="0">
              <a:spcBef>
                <a:spcPts val="1200"/>
              </a:spcBef>
              <a:spcAft>
                <a:spcPts val="0"/>
              </a:spcAft>
              <a:buNone/>
            </a:pPr>
            <a:endParaRPr/>
          </a:p>
        </p:txBody>
      </p:sp>
      <p:sp>
        <p:nvSpPr>
          <p:cNvPr id="86" name="Google Shape;86;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87" name="Google Shape;87;p18" title="Screenshot 2026-05-09 at 5.35.11 PM.png"/>
          <p:cNvPicPr preferRelativeResize="0"/>
          <p:nvPr/>
        </p:nvPicPr>
        <p:blipFill>
          <a:blip r:embed="rId3">
            <a:alphaModFix/>
          </a:blip>
          <a:stretch>
            <a:fillRect/>
          </a:stretch>
        </p:blipFill>
        <p:spPr>
          <a:xfrm>
            <a:off x="191475" y="1152475"/>
            <a:ext cx="8761050" cy="3919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0"/>
              </a:spcAft>
              <a:buNone/>
            </a:pPr>
            <a:r>
              <a:rPr lang="en-GB" sz="2650" b="1"/>
              <a:t>med_test</a:t>
            </a:r>
            <a:r>
              <a:rPr lang="en-GB" sz="2650"/>
              <a:t>: stores medical test results</a:t>
            </a:r>
            <a:endParaRPr sz="2650"/>
          </a:p>
          <a:p>
            <a:pPr marL="0" lvl="0" indent="0" algn="l" rtl="0">
              <a:spcBef>
                <a:spcPts val="1200"/>
              </a:spcBef>
              <a:spcAft>
                <a:spcPts val="0"/>
              </a:spcAft>
              <a:buNone/>
            </a:pPr>
            <a:endParaRPr/>
          </a:p>
        </p:txBody>
      </p:sp>
      <p:sp>
        <p:nvSpPr>
          <p:cNvPr id="93" name="Google Shape;93;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94" name="Google Shape;94;p19" title="Screenshot 2026-05-09 at 5.36.15 PM.png"/>
          <p:cNvPicPr preferRelativeResize="0"/>
          <p:nvPr/>
        </p:nvPicPr>
        <p:blipFill>
          <a:blip r:embed="rId3">
            <a:alphaModFix/>
          </a:blip>
          <a:stretch>
            <a:fillRect/>
          </a:stretch>
        </p:blipFill>
        <p:spPr>
          <a:xfrm>
            <a:off x="311700" y="1031725"/>
            <a:ext cx="8618549" cy="37659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0"/>
              </a:spcAft>
              <a:buNone/>
            </a:pPr>
            <a:r>
              <a:rPr lang="en-GB" sz="2650" b="1"/>
              <a:t>medicine_price</a:t>
            </a:r>
            <a:r>
              <a:rPr lang="en-GB" sz="2650"/>
              <a:t>: stores medicine pricing</a:t>
            </a:r>
            <a:endParaRPr sz="2650"/>
          </a:p>
          <a:p>
            <a:pPr marL="0" lvl="0" indent="0" algn="l" rtl="0">
              <a:lnSpc>
                <a:spcPct val="115000"/>
              </a:lnSpc>
              <a:spcBef>
                <a:spcPts val="1200"/>
              </a:spcBef>
              <a:spcAft>
                <a:spcPts val="0"/>
              </a:spcAft>
              <a:buClr>
                <a:schemeClr val="dk1"/>
              </a:buClr>
              <a:buSzPct val="100000"/>
              <a:buFont typeface="Arial"/>
              <a:buNone/>
            </a:pPr>
            <a:endParaRPr sz="1100"/>
          </a:p>
          <a:p>
            <a:pPr marL="0" lvl="0" indent="0" algn="l" rtl="0">
              <a:spcBef>
                <a:spcPts val="0"/>
              </a:spcBef>
              <a:spcAft>
                <a:spcPts val="0"/>
              </a:spcAft>
              <a:buNone/>
            </a:pPr>
            <a:endParaRPr/>
          </a:p>
        </p:txBody>
      </p:sp>
      <p:sp>
        <p:nvSpPr>
          <p:cNvPr id="100" name="Google Shape;100;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01" name="Google Shape;101;p20" title="Screenshot 2026-05-09 at 5.36.47 PM.png"/>
          <p:cNvPicPr preferRelativeResize="0"/>
          <p:nvPr/>
        </p:nvPicPr>
        <p:blipFill>
          <a:blip r:embed="rId3">
            <a:alphaModFix/>
          </a:blip>
          <a:stretch>
            <a:fillRect/>
          </a:stretch>
        </p:blipFill>
        <p:spPr>
          <a:xfrm>
            <a:off x="225625" y="1152475"/>
            <a:ext cx="8786526" cy="3502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0"/>
              </a:spcAft>
              <a:buNone/>
            </a:pPr>
            <a:r>
              <a:rPr lang="en-GB" sz="2650" b="1"/>
              <a:t>prescriptions</a:t>
            </a:r>
            <a:r>
              <a:rPr lang="en-GB" sz="2650"/>
              <a:t>: records prescriptions issued</a:t>
            </a:r>
            <a:endParaRPr sz="2650"/>
          </a:p>
          <a:p>
            <a:pPr marL="0" lvl="0" indent="0" algn="l" rtl="0">
              <a:lnSpc>
                <a:spcPct val="115000"/>
              </a:lnSpc>
              <a:spcBef>
                <a:spcPts val="1200"/>
              </a:spcBef>
              <a:spcAft>
                <a:spcPts val="0"/>
              </a:spcAft>
              <a:buClr>
                <a:schemeClr val="dk1"/>
              </a:buClr>
              <a:buSzPct val="100000"/>
              <a:buFont typeface="Arial"/>
              <a:buNone/>
            </a:pPr>
            <a:endParaRPr sz="1100"/>
          </a:p>
          <a:p>
            <a:pPr marL="0" lvl="0" indent="0" algn="l" rtl="0">
              <a:spcBef>
                <a:spcPts val="0"/>
              </a:spcBef>
              <a:spcAft>
                <a:spcPts val="0"/>
              </a:spcAft>
              <a:buNone/>
            </a:pPr>
            <a:endParaRPr/>
          </a:p>
        </p:txBody>
      </p:sp>
      <p:sp>
        <p:nvSpPr>
          <p:cNvPr id="107" name="Google Shape;107;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08" name="Google Shape;108;p21" title="Screenshot 2026-05-09 at 5.37.22 PM.png"/>
          <p:cNvPicPr preferRelativeResize="0"/>
          <p:nvPr/>
        </p:nvPicPr>
        <p:blipFill>
          <a:blip r:embed="rId3">
            <a:alphaModFix/>
          </a:blip>
          <a:stretch>
            <a:fillRect/>
          </a:stretch>
        </p:blipFill>
        <p:spPr>
          <a:xfrm>
            <a:off x="279062" y="1152475"/>
            <a:ext cx="8585875" cy="39945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0"/>
              </a:spcAft>
              <a:buNone/>
            </a:pPr>
            <a:r>
              <a:rPr lang="en-GB" sz="2650" b="1"/>
              <a:t>prescription_medicine</a:t>
            </a:r>
            <a:r>
              <a:rPr lang="en-GB" sz="2650"/>
              <a:t>: links prescriptions with medicines</a:t>
            </a:r>
            <a:endParaRPr sz="2650"/>
          </a:p>
          <a:p>
            <a:pPr marL="0" lvl="0" indent="0" algn="l" rtl="0">
              <a:lnSpc>
                <a:spcPct val="115000"/>
              </a:lnSpc>
              <a:spcBef>
                <a:spcPts val="1200"/>
              </a:spcBef>
              <a:spcAft>
                <a:spcPts val="0"/>
              </a:spcAft>
              <a:buClr>
                <a:schemeClr val="dk1"/>
              </a:buClr>
              <a:buSzPct val="100000"/>
              <a:buFont typeface="Arial"/>
              <a:buNone/>
            </a:pPr>
            <a:endParaRPr sz="1100"/>
          </a:p>
          <a:p>
            <a:pPr marL="0" lvl="0" indent="0" algn="l" rtl="0">
              <a:spcBef>
                <a:spcPts val="0"/>
              </a:spcBef>
              <a:spcAft>
                <a:spcPts val="0"/>
              </a:spcAft>
              <a:buNone/>
            </a:pPr>
            <a:endParaRPr/>
          </a:p>
        </p:txBody>
      </p:sp>
      <p:pic>
        <p:nvPicPr>
          <p:cNvPr id="114" name="Google Shape;114;p22" title="Screenshot 2026-05-09 at 5.37.48 PM.png"/>
          <p:cNvPicPr preferRelativeResize="0"/>
          <p:nvPr/>
        </p:nvPicPr>
        <p:blipFill>
          <a:blip r:embed="rId3">
            <a:alphaModFix/>
          </a:blip>
          <a:stretch>
            <a:fillRect/>
          </a:stretch>
        </p:blipFill>
        <p:spPr>
          <a:xfrm>
            <a:off x="178100" y="1017725"/>
            <a:ext cx="8419624" cy="3827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3"/>
          <p:cNvSpPr txBox="1">
            <a:spLocks noGrp="1"/>
          </p:cNvSpPr>
          <p:nvPr>
            <p:ph type="title"/>
          </p:nvPr>
        </p:nvSpPr>
        <p:spPr>
          <a:xfrm>
            <a:off x="311700" y="88900"/>
            <a:ext cx="8520600" cy="928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Sample Queries: Counting total number of positive result of grouped by each med_test name</a:t>
            </a:r>
            <a:endParaRPr/>
          </a:p>
        </p:txBody>
      </p:sp>
      <p:pic>
        <p:nvPicPr>
          <p:cNvPr id="120" name="Google Shape;120;p23" title="Screenshot 2026-05-09 at 6.27.32 PM.png"/>
          <p:cNvPicPr preferRelativeResize="0"/>
          <p:nvPr/>
        </p:nvPicPr>
        <p:blipFill>
          <a:blip r:embed="rId3">
            <a:alphaModFix/>
          </a:blip>
          <a:stretch>
            <a:fillRect/>
          </a:stretch>
        </p:blipFill>
        <p:spPr>
          <a:xfrm>
            <a:off x="377350" y="1017725"/>
            <a:ext cx="6953464" cy="41257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sz="1800"/>
              <a:t>Sample Queries: total costs of medicines for each patient for eachunit of medicne</a:t>
            </a:r>
            <a:endParaRPr sz="1800"/>
          </a:p>
          <a:p>
            <a:pPr marL="0" lvl="0" indent="0" algn="l" rtl="0">
              <a:spcBef>
                <a:spcPts val="0"/>
              </a:spcBef>
              <a:spcAft>
                <a:spcPts val="0"/>
              </a:spcAft>
              <a:buNone/>
            </a:pPr>
            <a:endParaRPr sz="1800"/>
          </a:p>
        </p:txBody>
      </p:sp>
      <p:pic>
        <p:nvPicPr>
          <p:cNvPr id="126" name="Google Shape;126;p24" title="Screenshot 2026-05-09 at 6.30.46 PM.png"/>
          <p:cNvPicPr preferRelativeResize="0"/>
          <p:nvPr/>
        </p:nvPicPr>
        <p:blipFill>
          <a:blip r:embed="rId3">
            <a:alphaModFix/>
          </a:blip>
          <a:stretch>
            <a:fillRect/>
          </a:stretch>
        </p:blipFill>
        <p:spPr>
          <a:xfrm>
            <a:off x="889001" y="1072700"/>
            <a:ext cx="7442202" cy="39522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800"/>
              <a:t>Sample Queries: concatenating medicine name with dosage</a:t>
            </a:r>
            <a:endParaRPr sz="1800"/>
          </a:p>
        </p:txBody>
      </p:sp>
      <p:pic>
        <p:nvPicPr>
          <p:cNvPr id="132" name="Google Shape;132;p25" title="Screenshot 2026-05-09 at 6.32.47 PM.png"/>
          <p:cNvPicPr preferRelativeResize="0"/>
          <p:nvPr/>
        </p:nvPicPr>
        <p:blipFill>
          <a:blip r:embed="rId3">
            <a:alphaModFix/>
          </a:blip>
          <a:stretch>
            <a:fillRect/>
          </a:stretch>
        </p:blipFill>
        <p:spPr>
          <a:xfrm>
            <a:off x="508000" y="1017725"/>
            <a:ext cx="6959599" cy="38209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New Feature Function Queries: 1. Scan_reports results</a:t>
            </a:r>
            <a:endParaRPr/>
          </a:p>
        </p:txBody>
      </p:sp>
      <p:sp>
        <p:nvSpPr>
          <p:cNvPr id="138" name="Google Shape;138;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39" name="Google Shape;139;p26" title="Screenshot 2026-05-09 at 6.04.12 PM.png"/>
          <p:cNvPicPr preferRelativeResize="0"/>
          <p:nvPr/>
        </p:nvPicPr>
        <p:blipFill>
          <a:blip r:embed="rId3">
            <a:alphaModFix/>
          </a:blip>
          <a:stretch>
            <a:fillRect/>
          </a:stretch>
        </p:blipFill>
        <p:spPr>
          <a:xfrm>
            <a:off x="311700" y="1017725"/>
            <a:ext cx="8520599" cy="36517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3"/>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8"/>
          <p:cNvSpPr txBox="1">
            <a:spLocks noGrp="1"/>
          </p:cNvSpPr>
          <p:nvPr>
            <p:ph type="title"/>
          </p:nvPr>
        </p:nvSpPr>
        <p:spPr>
          <a:xfrm>
            <a:off x="311700" y="88900"/>
            <a:ext cx="8520600" cy="928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6"/>
              <a:buFont typeface="Arial"/>
              <a:buNone/>
            </a:pPr>
            <a:r>
              <a:rPr lang="en-GB"/>
              <a:t>New Feature Function Queries: 2. Get_Doctor_Appointments</a:t>
            </a:r>
            <a:endParaRPr/>
          </a:p>
        </p:txBody>
      </p:sp>
      <p:sp>
        <p:nvSpPr>
          <p:cNvPr id="149" name="Google Shape;149;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50" name="Google Shape;150;p28" title="Screenshot 2026-05-09 at 6.09.05 PM.png"/>
          <p:cNvPicPr preferRelativeResize="0"/>
          <p:nvPr/>
        </p:nvPicPr>
        <p:blipFill>
          <a:blip r:embed="rId3">
            <a:alphaModFix/>
          </a:blip>
          <a:stretch>
            <a:fillRect/>
          </a:stretch>
        </p:blipFill>
        <p:spPr>
          <a:xfrm>
            <a:off x="311700" y="1017725"/>
            <a:ext cx="8520599" cy="35177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pic>
        <p:nvPicPr>
          <p:cNvPr id="155" name="Google Shape;155;p29" title="Screenshot 2026-05-09 at 6.42.02 PM.png"/>
          <p:cNvPicPr preferRelativeResize="0"/>
          <p:nvPr/>
        </p:nvPicPr>
        <p:blipFill>
          <a:blip r:embed="rId3">
            <a:alphaModFix/>
          </a:blip>
          <a:stretch>
            <a:fillRect/>
          </a:stretch>
        </p:blipFill>
        <p:spPr>
          <a:xfrm>
            <a:off x="-8402" y="-24450"/>
            <a:ext cx="9152402" cy="51924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30"/>
          <p:cNvSpPr txBox="1">
            <a:spLocks noGrp="1"/>
          </p:cNvSpPr>
          <p:nvPr>
            <p:ph type="title"/>
          </p:nvPr>
        </p:nvSpPr>
        <p:spPr>
          <a:xfrm>
            <a:off x="311700" y="177800"/>
            <a:ext cx="8520600" cy="840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6"/>
              <a:buFont typeface="Arial"/>
              <a:buNone/>
            </a:pPr>
            <a:r>
              <a:rPr lang="en-GB"/>
              <a:t>New Feature Function Queries: 3. Get_prescription_details</a:t>
            </a:r>
            <a:endParaRPr/>
          </a:p>
        </p:txBody>
      </p:sp>
      <p:sp>
        <p:nvSpPr>
          <p:cNvPr id="161" name="Google Shape;161;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62" name="Google Shape;162;p30" title="Screenshot 2026-05-09 at 6.09.42 PM.png"/>
          <p:cNvPicPr preferRelativeResize="0"/>
          <p:nvPr/>
        </p:nvPicPr>
        <p:blipFill>
          <a:blip r:embed="rId3">
            <a:alphaModFix/>
          </a:blip>
          <a:stretch>
            <a:fillRect/>
          </a:stretch>
        </p:blipFill>
        <p:spPr>
          <a:xfrm>
            <a:off x="101600" y="1152475"/>
            <a:ext cx="8730702" cy="36939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pic>
        <p:nvPicPr>
          <p:cNvPr id="167" name="Google Shape;167;p31" title="Screenshot 2026-05-09 at 6.45.24 PM.png"/>
          <p:cNvPicPr preferRelativeResize="0"/>
          <p:nvPr/>
        </p:nvPicPr>
        <p:blipFill rotWithShape="1">
          <a:blip r:embed="rId3">
            <a:alphaModFix/>
          </a:blip>
          <a:srcRect b="-140"/>
          <a:stretch/>
        </p:blipFill>
        <p:spPr>
          <a:xfrm>
            <a:off x="0" y="-23850"/>
            <a:ext cx="9144000" cy="519120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6"/>
              <a:buFont typeface="Arial"/>
              <a:buNone/>
            </a:pPr>
            <a:r>
              <a:rPr lang="en-GB"/>
              <a:t>New Feature Procedure Queries: 1. Insert_patients data</a:t>
            </a:r>
            <a:endParaRPr/>
          </a:p>
        </p:txBody>
      </p:sp>
      <p:pic>
        <p:nvPicPr>
          <p:cNvPr id="173" name="Google Shape;173;p32" title="Screenshot 2026-05-09 at 6.10.02 PM.png"/>
          <p:cNvPicPr preferRelativeResize="0"/>
          <p:nvPr/>
        </p:nvPicPr>
        <p:blipFill>
          <a:blip r:embed="rId3">
            <a:alphaModFix/>
          </a:blip>
          <a:stretch>
            <a:fillRect/>
          </a:stretch>
        </p:blipFill>
        <p:spPr>
          <a:xfrm>
            <a:off x="311700" y="1324850"/>
            <a:ext cx="8520599" cy="30693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pic>
        <p:nvPicPr>
          <p:cNvPr id="178" name="Google Shape;178;p33" title="Screenshot 2026-05-09 at 6.57.47 PM.png"/>
          <p:cNvPicPr preferRelativeResize="0"/>
          <p:nvPr/>
        </p:nvPicPr>
        <p:blipFill>
          <a:blip r:embed="rId3">
            <a:alphaModFix/>
          </a:blip>
          <a:stretch>
            <a:fillRect/>
          </a:stretch>
        </p:blipFill>
        <p:spPr>
          <a:xfrm>
            <a:off x="0" y="0"/>
            <a:ext cx="9144002" cy="51435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4"/>
          <p:cNvSpPr txBox="1">
            <a:spLocks noGrp="1"/>
          </p:cNvSpPr>
          <p:nvPr>
            <p:ph type="title"/>
          </p:nvPr>
        </p:nvSpPr>
        <p:spPr>
          <a:xfrm>
            <a:off x="311700" y="279925"/>
            <a:ext cx="8520600" cy="863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6"/>
              <a:buFont typeface="Arial"/>
              <a:buNone/>
            </a:pPr>
            <a:r>
              <a:rPr lang="en-GB"/>
              <a:t>New Feature Procedure Queries: 2. Updating medicine prices</a:t>
            </a:r>
            <a:endParaRPr/>
          </a:p>
        </p:txBody>
      </p:sp>
      <p:pic>
        <p:nvPicPr>
          <p:cNvPr id="184" name="Google Shape;184;p34" title="Screenshot 2026-05-09 at 6.10.15 PM.png"/>
          <p:cNvPicPr preferRelativeResize="0"/>
          <p:nvPr/>
        </p:nvPicPr>
        <p:blipFill>
          <a:blip r:embed="rId3">
            <a:alphaModFix/>
          </a:blip>
          <a:stretch>
            <a:fillRect/>
          </a:stretch>
        </p:blipFill>
        <p:spPr>
          <a:xfrm>
            <a:off x="520700" y="1308100"/>
            <a:ext cx="8407402" cy="2986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pic>
        <p:nvPicPr>
          <p:cNvPr id="189" name="Google Shape;189;p35" title="Screenshot 2026-05-09 at 6.58.42 PM.png"/>
          <p:cNvPicPr preferRelativeResize="0"/>
          <p:nvPr/>
        </p:nvPicPr>
        <p:blipFill>
          <a:blip r:embed="rId3">
            <a:alphaModFix/>
          </a:blip>
          <a:stretch>
            <a:fillRect/>
          </a:stretch>
        </p:blipFill>
        <p:spPr>
          <a:xfrm>
            <a:off x="0" y="0"/>
            <a:ext cx="9127877" cy="51435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6"/>
              <a:buFont typeface="Arial"/>
              <a:buNone/>
            </a:pPr>
            <a:r>
              <a:rPr lang="en-GB"/>
              <a:t>New Feature Procedure Queries: 3. delete appointments</a:t>
            </a:r>
            <a:endParaRPr/>
          </a:p>
        </p:txBody>
      </p:sp>
      <p:pic>
        <p:nvPicPr>
          <p:cNvPr id="195" name="Google Shape;195;p36" title="Screenshot 2026-05-09 at 6.10.21 PM.png"/>
          <p:cNvPicPr preferRelativeResize="0"/>
          <p:nvPr/>
        </p:nvPicPr>
        <p:blipFill>
          <a:blip r:embed="rId3">
            <a:alphaModFix/>
          </a:blip>
          <a:stretch>
            <a:fillRect/>
          </a:stretch>
        </p:blipFill>
        <p:spPr>
          <a:xfrm>
            <a:off x="311700" y="1152475"/>
            <a:ext cx="8197299" cy="30512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pic>
        <p:nvPicPr>
          <p:cNvPr id="200" name="Google Shape;200;p37" title="Screenshot 2026-05-09 at 6.59.31 PM.png"/>
          <p:cNvPicPr preferRelativeResize="0"/>
          <p:nvPr/>
        </p:nvPicPr>
        <p:blipFill>
          <a:blip r:embed="rId3">
            <a:alphaModFix/>
          </a:blip>
          <a:stretch>
            <a:fillRect/>
          </a:stretch>
        </p:blipFill>
        <p:spPr>
          <a:xfrm>
            <a:off x="0" y="0"/>
            <a:ext cx="9144002" cy="51435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Conclusion:</a:t>
            </a:r>
            <a:endParaRPr/>
          </a:p>
        </p:txBody>
      </p:sp>
      <p:sp>
        <p:nvSpPr>
          <p:cNvPr id="206" name="Google Shape;206;p38"/>
          <p:cNvSpPr txBox="1">
            <a:spLocks noGrp="1"/>
          </p:cNvSpPr>
          <p:nvPr>
            <p:ph type="body" idx="1"/>
          </p:nvPr>
        </p:nvSpPr>
        <p:spPr>
          <a:xfrm>
            <a:off x="311700" y="1152475"/>
            <a:ext cx="8520600" cy="12732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GB" dirty="0"/>
              <a:t>This SQL prompt are mainly used to manage the data in the hospital database.</a:t>
            </a:r>
            <a:endParaRPr dirty="0"/>
          </a:p>
          <a:p>
            <a:pPr marL="0" lvl="0" indent="0" algn="l" rtl="0">
              <a:spcBef>
                <a:spcPts val="1200"/>
              </a:spcBef>
              <a:spcAft>
                <a:spcPts val="1200"/>
              </a:spcAft>
              <a:buNone/>
            </a:pPr>
            <a:r>
              <a:rPr lang="en-GB" dirty="0"/>
              <a:t>Looking for patients' data, medical reports and doctors' history of managing appointments, and more.</a:t>
            </a:r>
            <a:endParaRPr dirty="0"/>
          </a:p>
        </p:txBody>
      </p:sp>
      <p:sp>
        <p:nvSpPr>
          <p:cNvPr id="207" name="Google Shape;207;p38"/>
          <p:cNvSpPr txBox="1"/>
          <p:nvPr/>
        </p:nvSpPr>
        <p:spPr>
          <a:xfrm>
            <a:off x="368300" y="2425700"/>
            <a:ext cx="7124700" cy="923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GB" sz="2400">
                <a:solidFill>
                  <a:schemeClr val="dk1"/>
                </a:solidFill>
              </a:rPr>
              <a:t>Future Works:</a:t>
            </a:r>
            <a:endParaRPr sz="2400">
              <a:solidFill>
                <a:schemeClr val="dk1"/>
              </a:solidFill>
            </a:endParaRPr>
          </a:p>
          <a:p>
            <a:pPr marL="0" lvl="0" indent="0" algn="l" rtl="0">
              <a:spcBef>
                <a:spcPts val="0"/>
              </a:spcBef>
              <a:spcAft>
                <a:spcPts val="0"/>
              </a:spcAft>
              <a:buNone/>
            </a:pPr>
            <a:endParaRPr sz="2400">
              <a:solidFill>
                <a:schemeClr val="dk2"/>
              </a:solidFill>
            </a:endParaRPr>
          </a:p>
        </p:txBody>
      </p:sp>
      <p:sp>
        <p:nvSpPr>
          <p:cNvPr id="208" name="Google Shape;208;p38"/>
          <p:cNvSpPr txBox="1"/>
          <p:nvPr/>
        </p:nvSpPr>
        <p:spPr>
          <a:xfrm>
            <a:off x="368300" y="3187700"/>
            <a:ext cx="76962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a:solidFill>
                  <a:schemeClr val="dk2"/>
                </a:solidFill>
              </a:rPr>
              <a:t>Adding more sql functions and procedure, creating an </a:t>
            </a:r>
            <a:r>
              <a:rPr lang="en-GB" sz="1800" u="sng">
                <a:solidFill>
                  <a:schemeClr val="hlink"/>
                </a:solidFill>
                <a:hlinkClick r:id="rId3"/>
              </a:rPr>
              <a:t>app.py</a:t>
            </a:r>
            <a:r>
              <a:rPr lang="en-GB" sz="1800">
                <a:solidFill>
                  <a:schemeClr val="dk2"/>
                </a:solidFill>
              </a:rPr>
              <a:t> to make access to this sql prompts easier and an interactive website.</a:t>
            </a:r>
            <a:endParaRPr sz="1800">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9"/>
          <p:cNvSpPr txBox="1">
            <a:spLocks noGrp="1"/>
          </p:cNvSpPr>
          <p:nvPr>
            <p:ph type="body" idx="1"/>
          </p:nvPr>
        </p:nvSpPr>
        <p:spPr>
          <a:xfrm>
            <a:off x="311700" y="2155775"/>
            <a:ext cx="8520600" cy="1260600"/>
          </a:xfrm>
          <a:prstGeom prst="rect">
            <a:avLst/>
          </a:prstGeom>
        </p:spPr>
        <p:txBody>
          <a:bodyPr spcFirstLastPara="1" wrap="square" lIns="91425" tIns="91425" rIns="91425" bIns="91425" anchor="t" anchorCtr="0">
            <a:normAutofit/>
          </a:bodyPr>
          <a:lstStyle/>
          <a:p>
            <a:pPr marL="0" lvl="0" indent="0" algn="ctr" rtl="0">
              <a:spcBef>
                <a:spcPts val="0"/>
              </a:spcBef>
              <a:spcAft>
                <a:spcPts val="1200"/>
              </a:spcAft>
              <a:buNone/>
            </a:pPr>
            <a:r>
              <a:rPr lang="en-GB" sz="3600"/>
              <a:t>Any Questions?</a:t>
            </a:r>
            <a:endParaRPr sz="36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407</Words>
  <Application>Microsoft Macintosh PowerPoint</Application>
  <PresentationFormat>On-screen Show (16:9)</PresentationFormat>
  <Paragraphs>33</Paragraphs>
  <Slides>27</Slides>
  <Notes>27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27</vt:i4>
      </vt:variant>
    </vt:vector>
  </HeadingPairs>
  <TitlesOfParts>
    <vt:vector size="29" baseType="lpstr">
      <vt:lpstr>Arial</vt:lpstr>
      <vt:lpstr>Simple Light</vt:lpstr>
      <vt:lpstr>PowerPoint Presentation</vt:lpstr>
      <vt:lpstr>Introduction to the database:</vt:lpstr>
      <vt:lpstr>Setting up database:</vt:lpstr>
      <vt:lpstr>Tables in the Database: </vt:lpstr>
      <vt:lpstr>doctor: stores doctor details </vt:lpstr>
      <vt:lpstr>appointments: tracks patients appointments with their doctor </vt:lpstr>
      <vt:lpstr>med_test: stores medical test results </vt:lpstr>
      <vt:lpstr>medicine_price: stores medicine pricing  </vt:lpstr>
      <vt:lpstr>prescriptions: records prescriptions issued  </vt:lpstr>
      <vt:lpstr>prescription_medicine: links prescriptions with medicines  </vt:lpstr>
      <vt:lpstr>Sample Queries: Counting total number of positive result of grouped by each med_test name</vt:lpstr>
      <vt:lpstr>Sample Queries: total costs of medicines for each patient for eachunit of medicne </vt:lpstr>
      <vt:lpstr>Sample Queries: concatenating medicine name with dosage</vt:lpstr>
      <vt:lpstr>New Feature Function Queries: 1. Scan_reports results</vt:lpstr>
      <vt:lpstr>PowerPoint Presentation</vt:lpstr>
      <vt:lpstr>New Feature Function Queries: 2. Get_Doctor_Appointments</vt:lpstr>
      <vt:lpstr>PowerPoint Presentation</vt:lpstr>
      <vt:lpstr>New Feature Function Queries: 3. Get_prescription_details</vt:lpstr>
      <vt:lpstr>PowerPoint Presentation</vt:lpstr>
      <vt:lpstr>New Feature Procedure Queries: 1. Insert_patients data</vt:lpstr>
      <vt:lpstr>PowerPoint Presentation</vt:lpstr>
      <vt:lpstr>New Feature Procedure Queries: 2. Updating medicine prices</vt:lpstr>
      <vt:lpstr>PowerPoint Presentation</vt:lpstr>
      <vt:lpstr>New Feature Procedure Queries: 3. delete appointments</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Honey</cp:lastModifiedBy>
  <cp:revision>4</cp:revision>
  <dcterms:modified xsi:type="dcterms:W3CDTF">2026-05-11T15:32:38Z</dcterms:modified>
</cp:coreProperties>
</file>